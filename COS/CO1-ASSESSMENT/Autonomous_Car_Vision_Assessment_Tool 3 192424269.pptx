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04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9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6.png"/><Relationship Id="rId3" Type="http://schemas.openxmlformats.org/officeDocument/2006/relationships/image" Target="../media/image1.jpeg"/><Relationship Id="rId7" Type="http://schemas.openxmlformats.org/officeDocument/2006/relationships/image" Target="../media/image24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5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penbcv/build/logo_squa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1463040" cy="1463040"/>
          </a:xfrm>
          <a:prstGeom prst="rect">
            <a:avLst/>
          </a:prstGeom>
        </p:spPr>
      </p:pic>
      <p:pic>
        <p:nvPicPr>
          <p:cNvPr id="3" name="Image 1" descr="/home/claude/openbcv/build/logo_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1787" y="250529"/>
            <a:ext cx="1207981" cy="15819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50" dirty="0">
                <a:solidFill>
                  <a:srgbClr val="FF6B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CO1-ASSESSMENT TOOL-3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42024" y="2152698"/>
            <a:ext cx="12334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kern="0" spc="250" dirty="0">
                <a:solidFill>
                  <a:srgbClr val="FF6B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DSA0201 –  Computer Vision with Open CV </a:t>
            </a: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/home/claude/openbcv/build/icon_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8613" y="429768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Done by:			 </a:t>
            </a:r>
            <a:b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B.Deepthi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(192424269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0" y="59893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Submitted to: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	 Dr. Mayurananthan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/home/claude/openbcv/build/icon_car.png">
            <a:extLst>
              <a:ext uri="{FF2B5EF4-FFF2-40B4-BE49-F238E27FC236}">
                <a16:creationId xmlns:a16="http://schemas.microsoft.com/office/drawing/2014/main" id="{323D3133-B54A-2792-A454-45647F3C2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4453" y="4092103"/>
            <a:ext cx="1005840" cy="10058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F57B16-872B-325E-0650-469B2FFEA053}"/>
              </a:ext>
            </a:extLst>
          </p:cNvPr>
          <p:cNvSpPr txBox="1"/>
          <p:nvPr/>
        </p:nvSpPr>
        <p:spPr>
          <a:xfrm>
            <a:off x="3501956" y="502920"/>
            <a:ext cx="6157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74B387E6-670C-30AB-48ED-E110DB9E83C8}"/>
              </a:ext>
            </a:extLst>
          </p:cNvPr>
          <p:cNvSpPr/>
          <p:nvPr/>
        </p:nvSpPr>
        <p:spPr>
          <a:xfrm>
            <a:off x="960120" y="3403361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Autonomous Car Vision System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82AFE09-8798-C01D-C11A-E6FAFB195BC3}"/>
              </a:ext>
            </a:extLst>
          </p:cNvPr>
          <p:cNvSpPr/>
          <p:nvPr/>
        </p:nvSpPr>
        <p:spPr>
          <a:xfrm>
            <a:off x="839822" y="3403361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penbcv/build/logo_squa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openbcv/build/logo_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109728"/>
            <a:ext cx="566928" cy="8961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06240" y="50216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1B9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48640" y="13716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F44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is an Autonomous Car?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17220" y="1567404"/>
            <a:ext cx="1086190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autonomous car is a self-driving vehicle that operates with no human intervention.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12812" y="324474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1B9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COMPONENTS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/home/claude/openbcv/build/icon_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262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30" y="4445671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/home/claude/openbcv/build/icon_senso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8845" y="3733865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77480" y="44872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/home/claude/openbcv/build/icon_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4352588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42340" y="4419777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Computer Vision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5" descr="/home/claude/openbcv/build/icon_psycholog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452628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09630" y="4427309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Artificial Intelligence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6" descr="/home/claude/openbcv/build/icon_c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1724" y="2843784"/>
            <a:ext cx="621792" cy="621792"/>
          </a:xfrm>
          <a:prstGeom prst="rect">
            <a:avLst/>
          </a:prstGeom>
        </p:spPr>
      </p:pic>
      <p:pic>
        <p:nvPicPr>
          <p:cNvPr id="24" name="Image 7" descr="/home/claude/openbcv/build/icon_rou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6700" y="4229100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185996" y="3493197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Detects Roads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8" descr="/home/claude/openbcv/build/icon_pers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6700" y="4887468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161020" y="3977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Detects Pedestrians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9"/>
          <p:cNvSpPr/>
          <p:nvPr/>
        </p:nvSpPr>
        <p:spPr>
          <a:xfrm>
            <a:off x="8161020" y="4612530"/>
            <a:ext cx="2930312" cy="555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Detects Traffic Signs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0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A6B2C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F6E486-55CB-F26F-835D-FE32B4E9C1E2}"/>
              </a:ext>
            </a:extLst>
          </p:cNvPr>
          <p:cNvSpPr txBox="1"/>
          <p:nvPr/>
        </p:nvSpPr>
        <p:spPr>
          <a:xfrm>
            <a:off x="510378" y="5149022"/>
            <a:ext cx="70259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capture road images,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nearby objects,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images,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driving decisions.</a:t>
            </a:r>
            <a:r>
              <a:rPr lang="en-US" sz="24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Image 2">
            <a:extLst>
              <a:ext uri="{FF2B5EF4-FFF2-40B4-BE49-F238E27FC236}">
                <a16:creationId xmlns:a16="http://schemas.microsoft.com/office/drawing/2014/main" id="{173A4FA7-5DFC-1324-8538-5E3AE4BCD5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680" y="4022806"/>
            <a:ext cx="457200" cy="457200"/>
          </a:xfrm>
          <a:prstGeom prst="rect">
            <a:avLst/>
          </a:prstGeom>
        </p:spPr>
      </p:pic>
      <p:pic>
        <p:nvPicPr>
          <p:cNvPr id="38" name="Image 3">
            <a:extLst>
              <a:ext uri="{FF2B5EF4-FFF2-40B4-BE49-F238E27FC236}">
                <a16:creationId xmlns:a16="http://schemas.microsoft.com/office/drawing/2014/main" id="{12637BAF-D6B6-E490-BE6D-A6A996A245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3010" y="4011993"/>
            <a:ext cx="457200" cy="457200"/>
          </a:xfrm>
          <a:prstGeom prst="rect">
            <a:avLst/>
          </a:prstGeom>
        </p:spPr>
      </p:pic>
      <p:pic>
        <p:nvPicPr>
          <p:cNvPr id="39" name="Image 4">
            <a:extLst>
              <a:ext uri="{FF2B5EF4-FFF2-40B4-BE49-F238E27FC236}">
                <a16:creationId xmlns:a16="http://schemas.microsoft.com/office/drawing/2014/main" id="{5112CC8A-1D14-7C75-1C9F-E7B1ED8624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8100" y="3974560"/>
            <a:ext cx="457200" cy="457200"/>
          </a:xfrm>
          <a:prstGeom prst="rect">
            <a:avLst/>
          </a:prstGeom>
        </p:spPr>
      </p:pic>
      <p:pic>
        <p:nvPicPr>
          <p:cNvPr id="40" name="Image 5">
            <a:extLst>
              <a:ext uri="{FF2B5EF4-FFF2-40B4-BE49-F238E27FC236}">
                <a16:creationId xmlns:a16="http://schemas.microsoft.com/office/drawing/2014/main" id="{0C27DA97-C9F9-30AF-D204-2F32F6474E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91984" y="3906628"/>
            <a:ext cx="457200" cy="4572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52C02EB-DF40-2C82-F47B-E26883F38538}"/>
              </a:ext>
            </a:extLst>
          </p:cNvPr>
          <p:cNvSpPr txBox="1"/>
          <p:nvPr/>
        </p:nvSpPr>
        <p:spPr>
          <a:xfrm>
            <a:off x="8161020" y="5397820"/>
            <a:ext cx="3330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ensure safe driving.</a:t>
            </a:r>
            <a:endParaRPr lang="en-IN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89DE95-6E7C-D411-A7A4-F0BC413F57E0}"/>
              </a:ext>
            </a:extLst>
          </p:cNvPr>
          <p:cNvSpPr txBox="1"/>
          <p:nvPr/>
        </p:nvSpPr>
        <p:spPr>
          <a:xfrm>
            <a:off x="8007809" y="2938084"/>
            <a:ext cx="4184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penbcv/build/logo_squa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137159"/>
            <a:ext cx="1055451" cy="1055451"/>
          </a:xfrm>
          <a:prstGeom prst="rect">
            <a:avLst/>
          </a:prstGeom>
        </p:spPr>
      </p:pic>
      <p:pic>
        <p:nvPicPr>
          <p:cNvPr id="3" name="Image 1" descr="/home/claude/openbcv/build/logo_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09727"/>
            <a:ext cx="932688" cy="14742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63340" y="464497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1B9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VISION PIPELINE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57784" y="1608099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vision pipeline is the step-by-step process that helps the car understand its surroundings.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/home/claude/openbcv/build/icon_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2491740"/>
            <a:ext cx="457200" cy="4572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143000" y="2176272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4"/>
          <p:cNvSpPr/>
          <p:nvPr/>
        </p:nvSpPr>
        <p:spPr>
          <a:xfrm>
            <a:off x="114300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22860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Acquisition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1417320" y="2720340"/>
            <a:ext cx="1170432" cy="0"/>
          </a:xfrm>
          <a:prstGeom prst="line">
            <a:avLst/>
          </a:prstGeom>
          <a:noFill/>
          <a:ln w="25400">
            <a:solidFill>
              <a:srgbClr val="C7D2E3"/>
            </a:solidFill>
            <a:prstDash val="solid"/>
          </a:ln>
        </p:spPr>
      </p:sp>
      <p:pic>
        <p:nvPicPr>
          <p:cNvPr id="13" name="Image 3" descr="/home/claude/openbcv/build/icon_tu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3492" y="2491740"/>
            <a:ext cx="457200" cy="4572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182112" y="2176272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9"/>
          <p:cNvSpPr/>
          <p:nvPr/>
        </p:nvSpPr>
        <p:spPr>
          <a:xfrm>
            <a:off x="3182112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2003898" y="3291840"/>
            <a:ext cx="17725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3456432" y="2720340"/>
            <a:ext cx="1170432" cy="0"/>
          </a:xfrm>
          <a:prstGeom prst="line">
            <a:avLst/>
          </a:prstGeom>
          <a:noFill/>
          <a:ln w="25400">
            <a:solidFill>
              <a:srgbClr val="C7D2E3"/>
            </a:solidFill>
            <a:prstDash val="solid"/>
          </a:ln>
        </p:spPr>
      </p:sp>
      <p:pic>
        <p:nvPicPr>
          <p:cNvPr id="19" name="Image 4" descr="/home/claude/openbcv/build/icon_sc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604" y="2491740"/>
            <a:ext cx="457200" cy="4572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221224" y="2176272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4"/>
          <p:cNvSpPr/>
          <p:nvPr/>
        </p:nvSpPr>
        <p:spPr>
          <a:xfrm>
            <a:off x="52212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4306824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5495544" y="2720340"/>
            <a:ext cx="1170432" cy="0"/>
          </a:xfrm>
          <a:prstGeom prst="line">
            <a:avLst/>
          </a:prstGeom>
          <a:noFill/>
          <a:ln w="25400">
            <a:solidFill>
              <a:srgbClr val="C7D2E3"/>
            </a:solidFill>
            <a:prstDash val="solid"/>
          </a:ln>
        </p:spPr>
      </p:sp>
      <p:pic>
        <p:nvPicPr>
          <p:cNvPr id="25" name="Image 5" descr="/home/claude/openbcv/build/icon_gr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1716" y="2491740"/>
            <a:ext cx="457200" cy="4572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60336" y="2176272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19"/>
          <p:cNvSpPr/>
          <p:nvPr/>
        </p:nvSpPr>
        <p:spPr>
          <a:xfrm>
            <a:off x="7260336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6345936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7534656" y="2720340"/>
            <a:ext cx="1170432" cy="0"/>
          </a:xfrm>
          <a:prstGeom prst="line">
            <a:avLst/>
          </a:prstGeom>
          <a:noFill/>
          <a:ln w="25400">
            <a:solidFill>
              <a:srgbClr val="C7D2E3"/>
            </a:solidFill>
            <a:prstDash val="solid"/>
          </a:ln>
        </p:spPr>
      </p:sp>
      <p:pic>
        <p:nvPicPr>
          <p:cNvPr id="31" name="Image 6" descr="/home/claude/openbcv/build/icon_rou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0828" y="2491740"/>
            <a:ext cx="457200" cy="45720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299448" y="2176272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3" name="Text 24"/>
          <p:cNvSpPr/>
          <p:nvPr/>
        </p:nvSpPr>
        <p:spPr>
          <a:xfrm>
            <a:off x="9299448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8385048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6"/>
          <p:cNvSpPr/>
          <p:nvPr/>
        </p:nvSpPr>
        <p:spPr>
          <a:xfrm>
            <a:off x="9573768" y="2720340"/>
            <a:ext cx="1170432" cy="0"/>
          </a:xfrm>
          <a:prstGeom prst="line">
            <a:avLst/>
          </a:prstGeom>
          <a:noFill/>
          <a:ln w="25400">
            <a:solidFill>
              <a:srgbClr val="C7D2E3"/>
            </a:solidFill>
            <a:prstDash val="solid"/>
          </a:ln>
        </p:spPr>
      </p:sp>
      <p:pic>
        <p:nvPicPr>
          <p:cNvPr id="37" name="Image 7" descr="/home/claude/openbcv/build/icon_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49940" y="2491740"/>
            <a:ext cx="457200" cy="457200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11338560" y="2176272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9" name="Text 29"/>
          <p:cNvSpPr/>
          <p:nvPr/>
        </p:nvSpPr>
        <p:spPr>
          <a:xfrm>
            <a:off x="1133856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1042416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264398" y="4182425"/>
            <a:ext cx="365760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6B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4"/>
          <p:cNvSpPr/>
          <p:nvPr/>
        </p:nvSpPr>
        <p:spPr>
          <a:xfrm>
            <a:off x="1674876" y="4661320"/>
            <a:ext cx="2286000" cy="623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 captures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pedestrian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5"/>
          <p:cNvSpPr/>
          <p:nvPr/>
        </p:nvSpPr>
        <p:spPr>
          <a:xfrm>
            <a:off x="3785616" y="4700805"/>
            <a:ext cx="1243000" cy="498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37"/>
          <p:cNvSpPr/>
          <p:nvPr/>
        </p:nvSpPr>
        <p:spPr>
          <a:xfrm>
            <a:off x="5221224" y="4661320"/>
            <a:ext cx="2286000" cy="623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detects the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pedestrian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38"/>
          <p:cNvSpPr/>
          <p:nvPr/>
        </p:nvSpPr>
        <p:spPr>
          <a:xfrm>
            <a:off x="7095744" y="4729730"/>
            <a:ext cx="1298448" cy="498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40"/>
          <p:cNvSpPr/>
          <p:nvPr/>
        </p:nvSpPr>
        <p:spPr>
          <a:xfrm>
            <a:off x="8650224" y="4661320"/>
            <a:ext cx="2286000" cy="623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 slows down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 stops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4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A6B2C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Image 2">
            <a:extLst>
              <a:ext uri="{FF2B5EF4-FFF2-40B4-BE49-F238E27FC236}">
                <a16:creationId xmlns:a16="http://schemas.microsoft.com/office/drawing/2014/main" id="{975BB63E-FB08-28F6-C0D4-B8F9D10787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9620" y="2313433"/>
            <a:ext cx="457200" cy="868680"/>
          </a:xfrm>
          <a:prstGeom prst="rect">
            <a:avLst/>
          </a:prstGeom>
        </p:spPr>
      </p:pic>
      <p:pic>
        <p:nvPicPr>
          <p:cNvPr id="56" name="Image 3">
            <a:extLst>
              <a:ext uri="{FF2B5EF4-FFF2-40B4-BE49-F238E27FC236}">
                <a16:creationId xmlns:a16="http://schemas.microsoft.com/office/drawing/2014/main" id="{C56C89FB-8E05-F27F-C162-90E9404F59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8732" y="2313433"/>
            <a:ext cx="457200" cy="868680"/>
          </a:xfrm>
          <a:prstGeom prst="rect">
            <a:avLst/>
          </a:prstGeom>
        </p:spPr>
      </p:pic>
      <p:pic>
        <p:nvPicPr>
          <p:cNvPr id="57" name="Image 4">
            <a:extLst>
              <a:ext uri="{FF2B5EF4-FFF2-40B4-BE49-F238E27FC236}">
                <a16:creationId xmlns:a16="http://schemas.microsoft.com/office/drawing/2014/main" id="{319F1960-385B-7358-1F73-482DFB1D97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7844" y="2313433"/>
            <a:ext cx="457200" cy="868680"/>
          </a:xfrm>
          <a:prstGeom prst="rect">
            <a:avLst/>
          </a:prstGeom>
        </p:spPr>
      </p:pic>
      <p:pic>
        <p:nvPicPr>
          <p:cNvPr id="58" name="Image 5">
            <a:extLst>
              <a:ext uri="{FF2B5EF4-FFF2-40B4-BE49-F238E27FC236}">
                <a16:creationId xmlns:a16="http://schemas.microsoft.com/office/drawing/2014/main" id="{304FDCA0-514E-C745-F3C6-01826DDA65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6956" y="2313433"/>
            <a:ext cx="457200" cy="868680"/>
          </a:xfrm>
          <a:prstGeom prst="rect">
            <a:avLst/>
          </a:prstGeom>
        </p:spPr>
      </p:pic>
      <p:pic>
        <p:nvPicPr>
          <p:cNvPr id="59" name="Image 6">
            <a:extLst>
              <a:ext uri="{FF2B5EF4-FFF2-40B4-BE49-F238E27FC236}">
                <a16:creationId xmlns:a16="http://schemas.microsoft.com/office/drawing/2014/main" id="{F9A7CA31-B274-463C-10AD-9E72CCC178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6068" y="2313433"/>
            <a:ext cx="457200" cy="868680"/>
          </a:xfrm>
          <a:prstGeom prst="rect">
            <a:avLst/>
          </a:prstGeom>
        </p:spPr>
      </p:pic>
      <p:pic>
        <p:nvPicPr>
          <p:cNvPr id="60" name="Image 7">
            <a:extLst>
              <a:ext uri="{FF2B5EF4-FFF2-40B4-BE49-F238E27FC236}">
                <a16:creationId xmlns:a16="http://schemas.microsoft.com/office/drawing/2014/main" id="{209A9F08-92F2-24E5-91C4-FEE26043DB9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65180" y="2313433"/>
            <a:ext cx="457200" cy="86868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3E4E261-921F-912E-4CF6-AE6BF94705E7}"/>
              </a:ext>
            </a:extLst>
          </p:cNvPr>
          <p:cNvSpPr txBox="1"/>
          <p:nvPr/>
        </p:nvSpPr>
        <p:spPr>
          <a:xfrm>
            <a:off x="982494" y="5797685"/>
            <a:ext cx="104246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example if the camera detects a pedestrian, the AI recognizes the person and the car slows down or stops.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penbcv/build/logo_squa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openbcv/build/logo_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109728"/>
            <a:ext cx="566928" cy="8961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70827" y="51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B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 CALIBRATION</a:t>
            </a:r>
            <a:endParaRPr 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48639" y="1417320"/>
            <a:ext cx="1090002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 calibration ensures the camera accurately represents the real-world environment.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48640" y="2704757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B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PURPOSE</a:t>
            </a:r>
            <a:endParaRPr 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48640" y="3452326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Correct lens distortion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 image accuracy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Measure real-world distances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Enhance object detection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46520" y="2285999"/>
            <a:ext cx="4892040" cy="418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537960" y="259423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kern="0" spc="100" dirty="0">
              <a:solidFill>
                <a:srgbClr val="00B0F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kern="0" spc="100" dirty="0">
                <a:solidFill>
                  <a:srgbClr val="00B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BENEFITS</a:t>
            </a:r>
            <a:endParaRPr 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629400" y="3330791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Accurate localization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Reliable navigation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Better perception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737360" y="548640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penbcv/build/logo_squa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909536" cy="909536"/>
          </a:xfrm>
          <a:prstGeom prst="rect">
            <a:avLst/>
          </a:prstGeom>
        </p:spPr>
      </p:pic>
      <p:pic>
        <p:nvPicPr>
          <p:cNvPr id="3" name="Image 1" descr="/home/claude/openbcv/build/logo_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109727"/>
            <a:ext cx="612648" cy="96837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31920" y="46741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1B9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DEPTH ESTIMATION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Depth estimation determines the distance between the vehicle and surrounding objects.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48640" y="2052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B9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554480" y="2148840"/>
            <a:ext cx="2209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Stereo Cameras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364480" y="2148840"/>
            <a:ext cx="2209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Monocular Camera with AI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9174480" y="2148840"/>
            <a:ext cx="2209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LiDAR Sensor Fusion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683368" y="372763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B9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640080" y="44348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Collision avoidance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 braking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Lane changing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Distance measurement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672084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6B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6720840" y="4800600"/>
            <a:ext cx="685800" cy="685800"/>
          </a:xfrm>
          <a:prstGeom prst="ellipse">
            <a:avLst/>
          </a:prstGeom>
          <a:solidFill>
            <a:srgbClr val="132C5C"/>
          </a:solidFill>
          <a:ln/>
        </p:spPr>
      </p:sp>
      <p:pic>
        <p:nvPicPr>
          <p:cNvPr id="24" name="Image 5" descr="/home/claude/openbcv/build/icon_ru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716" y="4951476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589520" y="48006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Pedestrian detected 8 meters ahead → Vehicle applies brakes if necessary.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6B2C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penbcv/build/logo_squa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openbcv/build/logo_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109728"/>
            <a:ext cx="566928" cy="8961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437755" y="451363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1B9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APPLICATIONS &amp; ADVANTAGES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48640" y="13716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Applications and Advantages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548640" y="214884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68680" y="23774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20" dirty="0">
                <a:solidFill>
                  <a:srgbClr val="1B9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868680" y="2834640"/>
            <a:ext cx="457200" cy="45720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9" name="Image 2" descr="/home/claude/openbcv/build/icon_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293522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Self-driving cars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868680" y="3520440"/>
            <a:ext cx="457200" cy="45720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2" name="Image 3" descr="/home/claude/openbcv/build/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36210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Driver Assistance (ADAS)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5" name="Image 4" descr="/home/claude/openbcv/build/icon_sig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4306824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6304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Traffic sign recognition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868680" y="4892040"/>
            <a:ext cx="457200" cy="45720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8" name="Image 5" descr="/home/claude/openbcv/build/icon_pers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264" y="4992624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6304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Pedestrian detection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68680" y="5577840"/>
            <a:ext cx="457200" cy="45720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1" name="Image 6" descr="/home/claude/openbcv/build/icon_rou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264" y="5678424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463040" y="5577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Lane detection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4"/>
          <p:cNvSpPr/>
          <p:nvPr/>
        </p:nvSpPr>
        <p:spPr>
          <a:xfrm>
            <a:off x="6355080" y="214884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24" name="Text 15"/>
          <p:cNvSpPr/>
          <p:nvPr/>
        </p:nvSpPr>
        <p:spPr>
          <a:xfrm>
            <a:off x="6675120" y="23774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20" dirty="0">
                <a:solidFill>
                  <a:srgbClr val="FF6B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6675120" y="28346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6" name="Image 7" descr="/home/claude/openbcv/build/icon_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5704" y="2935224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26948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Improved road safety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6675120" y="35204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9" name="Image 8" descr="/home/claude/openbcv/build/icon_cha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5704" y="3621024"/>
            <a:ext cx="256032" cy="25603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26948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Reduced accidents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6675120" y="42062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2" name="Image 9" descr="/home/claude/openbcv/build/icon_rul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5704" y="4306824"/>
            <a:ext cx="256032" cy="25603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26948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Accurate navigation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6675120" y="48920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5" name="Image 10" descr="/home/claude/openbcv/build/icon_spe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5704" y="4992624"/>
            <a:ext cx="256032" cy="256032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726948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decision making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6675120" y="55778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8" name="Image 11" descr="/home/claude/openbcv/build/icon_traffi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75704" y="5678424"/>
            <a:ext cx="256032" cy="256032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7269480" y="5577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1F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Better traffic management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26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6B2C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penbcv/build/logo_squa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openbcv/build/logo_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109728"/>
            <a:ext cx="566928" cy="8961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9601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0" y="1325880"/>
            <a:ext cx="1216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All Together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371600" y="21945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 rely on computer vision to perceive their surroundings.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2072640" y="3246120"/>
            <a:ext cx="731520" cy="731520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10" name="Text 5"/>
          <p:cNvSpPr/>
          <p:nvPr/>
        </p:nvSpPr>
        <p:spPr>
          <a:xfrm>
            <a:off x="1051560" y="4160520"/>
            <a:ext cx="277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097280" y="4526280"/>
            <a:ext cx="268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camera images captured by the car.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5715000" y="3246120"/>
            <a:ext cx="731520" cy="731520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15" name="Text 9"/>
          <p:cNvSpPr/>
          <p:nvPr/>
        </p:nvSpPr>
        <p:spPr>
          <a:xfrm>
            <a:off x="4693920" y="4160520"/>
            <a:ext cx="277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</a:t>
            </a: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739640" y="4526280"/>
            <a:ext cx="268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Improves image accuracy and corrects distortions.</a:t>
            </a: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9357360" y="3246120"/>
            <a:ext cx="731520" cy="731520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20" name="Text 13"/>
          <p:cNvSpPr/>
          <p:nvPr/>
        </p:nvSpPr>
        <p:spPr>
          <a:xfrm>
            <a:off x="8336280" y="4160520"/>
            <a:ext cx="277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Depth Estimation</a:t>
            </a: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8382000" y="4526280"/>
            <a:ext cx="268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Measures object distances for safe navigation.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1386840" y="596188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technologies enable safer and more reliable autonomous driving.</a:t>
            </a: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penbcv/build/logo_squa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380350"/>
            <a:ext cx="1321989" cy="1321989"/>
          </a:xfrm>
          <a:prstGeom prst="rect">
            <a:avLst/>
          </a:prstGeom>
        </p:spPr>
      </p:pic>
      <p:pic>
        <p:nvPicPr>
          <p:cNvPr id="3" name="Image 1" descr="/home/claude/openbcv/build/logo_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983" y="109728"/>
            <a:ext cx="857785" cy="135585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08962" y="1995818"/>
            <a:ext cx="5243207" cy="1828800"/>
          </a:xfrm>
          <a:prstGeom prst="ellipse">
            <a:avLst/>
          </a:prstGeom>
          <a:solidFill>
            <a:srgbClr val="132C5C"/>
          </a:solidFill>
          <a:ln/>
        </p:spPr>
      </p:sp>
      <p:pic>
        <p:nvPicPr>
          <p:cNvPr id="5" name="Image 2" descr="/home/claude/openbcv/build/icon_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33172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0" y="2453018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7" name="Text 2"/>
          <p:cNvSpPr/>
          <p:nvPr/>
        </p:nvSpPr>
        <p:spPr>
          <a:xfrm>
            <a:off x="0" y="4937760"/>
            <a:ext cx="1216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openbcv/build/logo_square.jpeg">
            <a:extLst>
              <a:ext uri="{FF2B5EF4-FFF2-40B4-BE49-F238E27FC236}">
                <a16:creationId xmlns:a16="http://schemas.microsoft.com/office/drawing/2014/main" id="{D03C0348-1C4C-2C11-977B-E7A2834D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380350"/>
            <a:ext cx="1321989" cy="1321989"/>
          </a:xfrm>
          <a:prstGeom prst="rect">
            <a:avLst/>
          </a:prstGeom>
        </p:spPr>
      </p:pic>
      <p:pic>
        <p:nvPicPr>
          <p:cNvPr id="5" name="Image 1" descr="/home/claude/openbcv/build/logo_tall.png">
            <a:extLst>
              <a:ext uri="{FF2B5EF4-FFF2-40B4-BE49-F238E27FC236}">
                <a16:creationId xmlns:a16="http://schemas.microsoft.com/office/drawing/2014/main" id="{8B1ED9A8-2533-EE14-A9D3-A2C5D4CCF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983" y="109728"/>
            <a:ext cx="857785" cy="1355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7827E7-DEF7-2CC4-65CF-868E99B2D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042" y="1269639"/>
            <a:ext cx="6295561" cy="52711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8159CD-944D-C026-D192-5B1A268BB2E3}"/>
              </a:ext>
            </a:extLst>
          </p:cNvPr>
          <p:cNvSpPr txBox="1"/>
          <p:nvPr/>
        </p:nvSpPr>
        <p:spPr>
          <a:xfrm>
            <a:off x="3200400" y="589009"/>
            <a:ext cx="4170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 Tag Photo</a:t>
            </a:r>
            <a:endParaRPr lang="en-IN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866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379</Words>
  <Application>Microsoft Office PowerPoint</Application>
  <PresentationFormat>Widescreen</PresentationFormat>
  <Paragraphs>116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BOLLEPALLI  DEEPTHI CHOWDARY</cp:lastModifiedBy>
  <cp:revision>10</cp:revision>
  <dcterms:created xsi:type="dcterms:W3CDTF">2026-07-16T03:01:05Z</dcterms:created>
  <dcterms:modified xsi:type="dcterms:W3CDTF">2026-07-16T07:41:31Z</dcterms:modified>
</cp:coreProperties>
</file>